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8229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Aft>
                <a:spcPts val="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VisionNetworking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93C5FD"/>
                </a:solidFill>
                <a:latin typeface="Calibri"/>
              </a:defRPr>
            </a:pPr>
            <a:r>
              <a:t>Marketing Partnership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8288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CBD5E1"/>
                </a:solidFill>
                <a:latin typeface="Calibri"/>
              </a:defRPr>
            </a:pPr>
            <a:r>
              <a:t>Building Iraq's First AI-Powered Procurement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April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procurement works in Iraq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 Manual processes requiring 20+ supplier calls per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 Days spent waiting for quotes from multiple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 WhatsApp-based negotiations with no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 Zero price transparency across the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  <a:r>
              <a:t>•  Repeated showroom visits consuming valuable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0972800" cy="100584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D4ED8"/>
                </a:solidFill>
                <a:latin typeface="Calibri"/>
              </a:defRPr>
            </a:pPr>
            <a:r>
              <a:t>"A single procurement cycle takes 5-10 days. We reduce that to under 24 hours."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Iraq's first AI-powered BOQ-to-Quotation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38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Buildings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100+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&lt;24h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Turnaround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We digitize and automate the entire procurement workflow — from BOQ submission to supplier quotation — using AI to match requirements with the right products and suppliers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4-step process from BOQ to supplier connection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56032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Submit BOQ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Upload your Bill of</a:t>
            </a:r>
            <a:br/>
            <a:r>
              <a:t>Quantities document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54680" y="2743200"/>
            <a:ext cx="27432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AI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Our AI parses, categorizes</a:t>
            </a:r>
            <a:br/>
            <a:r>
              <a:t>and matches items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89320" y="2743200"/>
            <a:ext cx="27432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0" y="256032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Get Quotation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Receive competitive</a:t>
            </a:r>
            <a:br/>
            <a:r>
              <a:t>quotes in &lt;24 hours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23960" y="2743200"/>
            <a:ext cx="274320" cy="36576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75520" y="2560320"/>
            <a:ext cx="731520" cy="73152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474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A"/>
                </a:solidFill>
                <a:latin typeface="Calibri"/>
              </a:defRPr>
            </a:pPr>
            <a:r>
              <a:t>Connect to Supplier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931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Direct connection to</a:t>
            </a:r>
            <a:br/>
            <a:r>
              <a:t>verified suppliers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Our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Comprehensive coverage across Iraq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38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100+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18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Governorates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743200"/>
            <a:ext cx="256032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12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Industries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Our physical network of verified suppliers and brands provides the foundation for a trusted digital procurement marketplace.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AI-powered infrastructure for procurement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4747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Document Parsing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OCR + AI extraction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Automated BOQ reading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Multi-format support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Arabic &amp;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560320"/>
            <a:ext cx="34747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Computer Vision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Product recognition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Image-based matching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Quality assessment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Catalog digitization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8" y="2560320"/>
            <a:ext cx="3474720" cy="2560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Smart Matching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Supplier matching algorithm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Price optimization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Availability tracking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Preference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massive, untapped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2918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$25-35B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Iraq Construction</a:t>
            </a:r>
            <a:br/>
            <a:r>
              <a:t>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560320"/>
            <a:ext cx="32918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8%+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Annual</a:t>
            </a:r>
            <a:br/>
            <a:r>
              <a:t>Growth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560320"/>
            <a:ext cx="329184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0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Direct</a:t>
            </a:r>
            <a:br/>
            <a:r>
              <a:t>Competitors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Growth Drivers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Government reconstruction programs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Foreign investment influx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Housing demand surge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Infrastructure modernization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206240"/>
            <a:ext cx="5029200" cy="18288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Why Now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Post-conflict rebuilding accelerating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Digital adoption growing rapidly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Young population embracing technology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Government digitization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From manual to digital procurement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1089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64748B"/>
                </a:solidFill>
              </a:defRPr>
            </a:pPr>
            <a:r>
              <a:t>Manual Today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Phone calls, showroom visits,</a:t>
            </a:r>
            <a:br/>
            <a:r>
              <a:t>WhatsApp groups, spreadsheets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3383280"/>
            <a:ext cx="457200" cy="45720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2743200"/>
            <a:ext cx="31089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1D4ED8"/>
                </a:solidFill>
              </a:defRPr>
            </a:pPr>
            <a:r>
              <a:t>VisionNetworking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AI-powered, instant quotes,</a:t>
            </a:r>
            <a:br/>
            <a:r>
              <a:t>verified suppliers, transparent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72400" y="3383280"/>
            <a:ext cx="457200" cy="457200"/>
          </a:xfrm>
          <a:prstGeom prst="rightArrow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2743200"/>
            <a:ext cx="3108960" cy="20116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59669"/>
                </a:solidFill>
              </a:defRPr>
            </a:pPr>
            <a:r>
              <a:t>Digital Tomorrow</a:t>
            </a:r>
          </a:p>
          <a:p>
            <a:pPr algn="ctr">
              <a:defRPr sz="1300">
                <a:solidFill>
                  <a:srgbClr val="1E293B"/>
                </a:solidFill>
              </a:defRPr>
            </a:pPr>
            <a:r>
              <a:t>Full procurement automation,</a:t>
            </a:r>
            <a:br/>
            <a:r>
              <a:t>predictive pricing,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0972800" cy="8229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D4ED8"/>
                </a:solidFill>
              </a:defRPr>
            </a:pPr>
            <a:r>
              <a:t>"First and only platform addressing this gap."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Target Audience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Who uses VisionNetworking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D4ED8"/>
                </a:solidFill>
              </a:defRPr>
            </a:pPr>
            <a:r>
              <a:t>Contractors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General &amp; specialized</a:t>
            </a:r>
            <a:br/>
            <a:r>
              <a:t>contractors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56032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D4ED8"/>
                </a:solidFill>
              </a:defRPr>
            </a:pPr>
            <a:r>
              <a:t>Project Managers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Construction project</a:t>
            </a:r>
            <a:br/>
            <a:r>
              <a:t>management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D4ED8"/>
                </a:solidFill>
              </a:defRPr>
            </a:pPr>
            <a:r>
              <a:t>Procurement Officers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Corporate &amp; government</a:t>
            </a:r>
            <a:br/>
            <a:r>
              <a:t>procurement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60320"/>
            <a:ext cx="2560320" cy="16459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1D4ED8"/>
                </a:solidFill>
              </a:defRPr>
            </a:pPr>
            <a:r>
              <a:t>Business Owners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SME owners managing</a:t>
            </a:r>
            <a:br/>
            <a:r>
              <a:t>construction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54880"/>
            <a:ext cx="365760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50K+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Contractors in Iraq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754880"/>
            <a:ext cx="3657600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D4ED8"/>
                </a:solidFill>
                <a:latin typeface="Calibri"/>
              </a:defRPr>
            </a:pPr>
            <a:r>
              <a:t>10K+</a:t>
            </a:r>
          </a:p>
          <a:p>
            <a:pPr algn="ctr">
              <a:defRPr sz="1200">
                <a:solidFill>
                  <a:srgbClr val="64748B"/>
                </a:solidFill>
                <a:latin typeface="Calibri"/>
              </a:defRPr>
            </a:pPr>
            <a:r>
              <a:t>Suppliers in Iraq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Digital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Iraq's digital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Facebook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#1 social platform in Iraq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5603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WhatsApp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Critical business communication channel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5603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93% Mobile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Mobile-first internet usage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319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Arabic-First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Content must be Arabic-primary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9319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YouTube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High engagement, growing ad 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31920"/>
            <a:ext cx="3383280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Instagram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Rapidly growing, visual commerce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We Bring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Our contribution to the partnership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521208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Platform &amp; Technology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AI-powered BOQ processing engine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Supplier matching algorithms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Product recognition technology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Full-stack web &amp; mobile platform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Real-time pricing database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38 building network infrastructure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560320"/>
            <a:ext cx="5212080" cy="3200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Network &amp; Expertise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100+ verified brand partnerships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18 governorate coverage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Deep Iraqi market knowledge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Existing supplier relationships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Industry-specific insights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Arabic-first content expertise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Partner capabilities we are looking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560320" cy="2926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Brand &amp; Creative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Brand identity development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Visual design system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Content creation pipeline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Arabic creative adaptation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560320"/>
            <a:ext cx="2560320" cy="2926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Growth &amp; Performance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Paid advertising management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SEO/SEM optimization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Conversion rate optimization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Growth hacking strategies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2926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Offline &amp; PR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Media relations &amp; press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Industry event presence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Influencer partnerships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Community building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60320"/>
            <a:ext cx="2560320" cy="29260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Analytics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Performance dashboards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Attribution modeling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Market research &amp; insights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Competitive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Expected marketing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Blog Posts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4/month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560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Video Content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2/month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560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Social Media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Daily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03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Paid Campaigns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Ongoing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703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WhatsApp Campaigns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2/month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703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Performance Reports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Monthly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3383280" cy="9144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t>SEO Optimization</a:t>
            </a:r>
          </a:p>
          <a:p>
            <a:pPr algn="l">
              <a:defRPr sz="1200" b="1">
                <a:solidFill>
                  <a:srgbClr val="1D4ED8"/>
                </a:solidFill>
              </a:defRPr>
            </a:pPr>
            <a:r>
              <a:t>Monthly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12-month partnership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474720" cy="3474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Phase 1: Foundation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Months 1-3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Brand identity finalization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Website &amp; landing pages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Social media setup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Content calendar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Initial paid campaigns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2560320"/>
            <a:ext cx="3474720" cy="3474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Phase 2: Growth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Months 4-6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Scale paid advertising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Content marketing ramp-up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Influencer partnerships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Email/WhatsApp automation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PR campaign launch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8" y="2560320"/>
            <a:ext cx="3474720" cy="3474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  <a:defRPr sz="1400" b="1">
                <a:solidFill>
                  <a:srgbClr val="1D4ED8"/>
                </a:solidFill>
                <a:latin typeface="Calibri"/>
              </a:defRPr>
            </a:pPr>
            <a:r>
              <a:t>Phase 3: Scale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Months 7-12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Market expansion campaigns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Advanced analytics &amp; AI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Event marketing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Partnership marketing</a:t>
            </a:r>
          </a:p>
          <a:p>
            <a:pPr algn="l">
              <a:spcAft>
                <a:spcPts val="2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Full funnel optimization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Key performance indicators we will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200+/mo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Qualified Leads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56032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-30% QoQ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Cost Per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4x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ROAS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6032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10K/mo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Website Traffic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5%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Engagement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02336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8%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2336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50K/mo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Brand 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4023360"/>
            <a:ext cx="256032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20/mo</a:t>
            </a:r>
          </a:p>
          <a:p>
            <a:pPr algn="ctr">
              <a:defRPr sz="1200">
                <a:solidFill>
                  <a:srgbClr val="64748B"/>
                </a:solidFill>
              </a:defRPr>
            </a:pPr>
            <a:r>
              <a:t>New Suppliers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Why Partner With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A unique market opportunity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First Mover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First platform of its kind</a:t>
            </a:r>
            <a:br/>
            <a:r>
              <a:t>in Iraq and the region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256032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Zero Competition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No direct competitors in</a:t>
            </a:r>
            <a:br/>
            <a:r>
              <a:t>the digital procurement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56032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$25-35B Market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Massive total addressable</a:t>
            </a:r>
            <a:br/>
            <a:r>
              <a:t>market with high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AI-Powered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Cutting-edge technology</a:t>
            </a:r>
            <a:br/>
            <a:r>
              <a:t>driving innovation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29768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Proven Network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38 buildings, 100+ brands</a:t>
            </a:r>
            <a:br/>
            <a:r>
              <a:t>already onboarded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297680"/>
            <a:ext cx="3383280" cy="14630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</a:defRPr>
            </a:pPr>
            <a:r>
              <a:t>Immediate Impact</a:t>
            </a:r>
          </a:p>
          <a:p>
            <a:pPr algn="ctr">
              <a:defRPr sz="1200">
                <a:solidFill>
                  <a:srgbClr val="1E293B"/>
                </a:solidFill>
              </a:defRPr>
            </a:pPr>
            <a:r>
              <a:t>Infrastructure ready for</a:t>
            </a:r>
            <a:br/>
            <a:r>
              <a:t>marketing-driven growth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548640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83080"/>
            <a:ext cx="1371600" cy="381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How we move forward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5603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1D4ED8"/>
                </a:solidFill>
              </a:defRPr>
            </a:pPr>
            <a:r>
              <a:t>1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Review SOW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Review the detailed Statement of Work</a:t>
            </a:r>
            <a:br/>
            <a:r>
              <a:t>and partnership terms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560320"/>
            <a:ext cx="25603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1D4ED8"/>
                </a:solidFill>
              </a:defRPr>
            </a:pPr>
            <a:r>
              <a:t>2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Discuss Budget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Align on investment levels</a:t>
            </a:r>
            <a:br/>
            <a:r>
              <a:t>and resource allocation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560320"/>
            <a:ext cx="25603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1D4ED8"/>
                </a:solidFill>
              </a:defRPr>
            </a:pPr>
            <a:r>
              <a:t>3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Kickoff Meeting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Joint strategy session to</a:t>
            </a:r>
            <a:br/>
            <a:r>
              <a:t>align on goals and timelines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2560320"/>
            <a:ext cx="256032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  <a:defRPr sz="3200" b="1">
                <a:solidFill>
                  <a:srgbClr val="1D4ED8"/>
                </a:solidFill>
              </a:defRPr>
            </a:pPr>
            <a:r>
              <a:t>4</a:t>
            </a:r>
          </a:p>
          <a:p>
            <a:pPr algn="ctr">
              <a:spcAft>
                <a:spcPts val="600"/>
              </a:spcAft>
              <a:defRPr sz="1600" b="1">
                <a:solidFill>
                  <a:srgbClr val="0F172A"/>
                </a:solidFill>
              </a:defRPr>
            </a:pPr>
            <a:r>
              <a:t>Launch Phase 1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Begin execution of the</a:t>
            </a:r>
            <a:br/>
            <a:r>
              <a:t>foundation phase immediately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212080"/>
            <a:ext cx="10972800" cy="822960"/>
          </a:xfrm>
          <a:prstGeom prst="round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i="1">
                <a:solidFill>
                  <a:srgbClr val="1D4ED8"/>
                </a:solidFill>
              </a:defRPr>
            </a:pPr>
            <a:r>
              <a:t>"We're looking for a partner, not a vendor."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12080" y="1097280"/>
            <a:ext cx="10972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100" b="1">
                <a:solidFill>
                  <a:srgbClr val="0F172A"/>
                </a:solidFill>
                <a:latin typeface="Calibri"/>
              </a:defRPr>
            </a:pPr>
            <a:r>
              <a:t>VN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VisionNetworking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93C5FD"/>
                </a:solidFill>
                <a:latin typeface="Calibri"/>
              </a:defRPr>
            </a:pPr>
            <a:r>
              <a:t>Building Iraq's First AI-Powered Procurement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0" y="3931920"/>
            <a:ext cx="1828800" cy="25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Baghdad, Iraq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info@visionnetworking.iq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CBD5E1"/>
                </a:solidFill>
                <a:latin typeface="Calibri"/>
              </a:defRPr>
            </a:pPr>
            <a:r>
              <a:t>+964 XXX XXX 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